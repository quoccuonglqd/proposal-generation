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62" r:id="rId7"/>
    <p:sldId id="258" r:id="rId8"/>
    <p:sldId id="261" r:id="rId9"/>
    <p:sldId id="260" r:id="rId10"/>
    <p:sldId id="259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  <a:t>3/6/18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9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3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2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4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8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7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1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  <a:t>3/6/18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3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rift.apache.org/docs/Languages" TargetMode="External"/><Relationship Id="rId4" Type="http://schemas.openxmlformats.org/officeDocument/2006/relationships/hyperlink" Target="https://diwakergupta.github.io/thrift-missing-guide/#_enums" TargetMode="External"/><Relationship Id="rId5" Type="http://schemas.openxmlformats.org/officeDocument/2006/relationships/hyperlink" Target="https://diwakergupta.github.io/thrift-missing-guide/#_best_practices" TargetMode="External"/><Relationship Id="rId6" Type="http://schemas.openxmlformats.org/officeDocument/2006/relationships/hyperlink" Target="https://wiki.apache.org/thrift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thrift.apache.org/static/files/thrift-20070401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.kleppmann.com/2012/12/05/schema-evolution-in-avro-protocol-buffers-thrift.html" TargetMode="External"/><Relationship Id="rId4" Type="http://schemas.openxmlformats.org/officeDocument/2006/relationships/hyperlink" Target="https://grpc.io/docs/" TargetMode="External"/><Relationship Id="rId5" Type="http://schemas.openxmlformats.org/officeDocument/2006/relationships/hyperlink" Target="https://grpc.io/docs/quickstart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rpc.io/blog/principle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 typeface="Arial" charset="0"/>
              <a:buChar char="•"/>
            </a:pPr>
            <a:r>
              <a:rPr lang="en-US" dirty="0" smtClean="0"/>
              <a:t>Messaging Protocol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dirty="0" smtClean="0"/>
              <a:t>Service Discovery Process</a:t>
            </a:r>
          </a:p>
          <a:p>
            <a:pPr marL="342900" indent="-342900" algn="l">
              <a:buFont typeface="Arial" charset="0"/>
              <a:buChar char="•"/>
            </a:pPr>
            <a:r>
              <a:rPr lang="en-US" dirty="0" smtClean="0"/>
              <a:t>User Authentication/Authorization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835806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 to </a:t>
            </a:r>
            <a:r>
              <a:rPr lang="en-US" dirty="0" smtClean="0"/>
              <a:t>Point (Requires Service Discovery)</a:t>
            </a:r>
            <a:endParaRPr lang="en-US" dirty="0" smtClean="0"/>
          </a:p>
          <a:p>
            <a:r>
              <a:rPr lang="en-US" dirty="0" smtClean="0"/>
              <a:t>Event Based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3574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 to Point </a:t>
            </a:r>
          </a:p>
          <a:p>
            <a:pPr lvl="1"/>
            <a:r>
              <a:rPr lang="en-US" dirty="0" smtClean="0"/>
              <a:t>SOAP </a:t>
            </a:r>
            <a:r>
              <a:rPr lang="en-US" dirty="0" smtClean="0"/>
              <a:t>(XML)</a:t>
            </a:r>
          </a:p>
          <a:p>
            <a:pPr lvl="1"/>
            <a:r>
              <a:rPr lang="en-US" dirty="0" smtClean="0"/>
              <a:t>JSON over HTTP</a:t>
            </a:r>
          </a:p>
          <a:p>
            <a:pPr lvl="1"/>
            <a:r>
              <a:rPr lang="en-US" dirty="0" smtClean="0"/>
              <a:t>Thrift (modular)</a:t>
            </a:r>
          </a:p>
          <a:p>
            <a:pPr lvl="1"/>
            <a:r>
              <a:rPr lang="en-US" dirty="0" smtClean="0"/>
              <a:t>Avro (binary)</a:t>
            </a:r>
          </a:p>
          <a:p>
            <a:pPr lvl="1"/>
            <a:r>
              <a:rPr lang="en-US" dirty="0" err="1" smtClean="0"/>
              <a:t>gRPC</a:t>
            </a:r>
            <a:r>
              <a:rPr lang="en-US" dirty="0" smtClean="0"/>
              <a:t> (binary)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689386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 to Point</a:t>
            </a:r>
          </a:p>
          <a:p>
            <a:pPr lvl="1"/>
            <a:r>
              <a:rPr lang="en-US" strike="sngStrike" dirty="0" smtClean="0"/>
              <a:t>SOAP (XML)</a:t>
            </a:r>
            <a:r>
              <a:rPr lang="en-US" dirty="0" smtClean="0"/>
              <a:t> (serialization/deserialization not scalable)</a:t>
            </a:r>
            <a:endParaRPr lang="en-US" strike="sngStrike" dirty="0"/>
          </a:p>
          <a:p>
            <a:pPr lvl="1"/>
            <a:r>
              <a:rPr lang="en-US" strike="sngStrike" dirty="0" smtClean="0"/>
              <a:t>JSON over HTTP</a:t>
            </a:r>
            <a:r>
              <a:rPr lang="en-US" dirty="0" smtClean="0"/>
              <a:t> (serialization/deserialization not scalable)</a:t>
            </a:r>
            <a:endParaRPr lang="en-US" strike="sngStrike" dirty="0"/>
          </a:p>
          <a:p>
            <a:pPr lvl="1"/>
            <a:r>
              <a:rPr lang="en-US" dirty="0" smtClean="0"/>
              <a:t>Thrift (modular) </a:t>
            </a:r>
          </a:p>
          <a:p>
            <a:pPr lvl="1"/>
            <a:r>
              <a:rPr lang="en-US" strike="sngStrike" dirty="0" smtClean="0"/>
              <a:t>Avro (binary)</a:t>
            </a:r>
            <a:r>
              <a:rPr lang="en-US" dirty="0" smtClean="0"/>
              <a:t> (dynamically typed, poor schema evolution)</a:t>
            </a:r>
          </a:p>
          <a:p>
            <a:pPr lvl="1"/>
            <a:r>
              <a:rPr lang="en-US" dirty="0" err="1" smtClean="0"/>
              <a:t>gRPC</a:t>
            </a:r>
            <a:r>
              <a:rPr lang="en-US" dirty="0" smtClean="0"/>
              <a:t> (binary)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34539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</a:t>
            </a:r>
            <a:r>
              <a:rPr lang="en-US" dirty="0" err="1" smtClean="0"/>
              <a:t>RPC</a:t>
            </a:r>
            <a:r>
              <a:rPr lang="en-US" dirty="0" smtClean="0"/>
              <a:t> &amp;&amp; Thrift</a:t>
            </a:r>
          </a:p>
          <a:p>
            <a:pPr lvl="1"/>
            <a:r>
              <a:rPr lang="en-US" dirty="0" smtClean="0"/>
              <a:t>Statically typed Interface Definition Language (IDL)</a:t>
            </a:r>
          </a:p>
          <a:p>
            <a:pPr lvl="1"/>
            <a:r>
              <a:rPr lang="en-US" dirty="0" smtClean="0"/>
              <a:t>Support Server/Client code generation</a:t>
            </a:r>
          </a:p>
          <a:p>
            <a:pPr lvl="1"/>
            <a:r>
              <a:rPr lang="en-US" dirty="0" smtClean="0"/>
              <a:t>Support Documentation generation</a:t>
            </a:r>
          </a:p>
          <a:p>
            <a:pPr lvl="1"/>
            <a:r>
              <a:rPr lang="en-US" dirty="0" smtClean="0"/>
              <a:t>APACHE 2.0 License</a:t>
            </a:r>
          </a:p>
          <a:p>
            <a:pPr lvl="1"/>
            <a:r>
              <a:rPr lang="en-US" dirty="0" smtClean="0"/>
              <a:t>Fast, low latency</a:t>
            </a:r>
          </a:p>
          <a:p>
            <a:pPr lvl="1"/>
            <a:r>
              <a:rPr lang="en-US" dirty="0" smtClean="0"/>
              <a:t>Major changes possibly break client (good thing)</a:t>
            </a:r>
          </a:p>
        </p:txBody>
      </p:sp>
    </p:spTree>
    <p:extLst>
      <p:ext uri="{BB962C8B-B14F-4D97-AF65-F5344CB8AC3E}">
        <p14:creationId xmlns:p14="http://schemas.microsoft.com/office/powerpoint/2010/main" val="1201416034"/>
      </p:ext>
    </p:extLst>
  </p:cSld>
  <p:clrMapOvr>
    <a:masterClrMapping/>
  </p:clrMapOvr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Thrift</a:t>
            </a:r>
            <a:r>
              <a:rPr lang="en-US" baseline="30000" dirty="0" smtClean="0">
                <a:hlinkClick r:id="rId2"/>
              </a:rPr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Pros</a:t>
            </a:r>
          </a:p>
          <a:p>
            <a:pPr lvl="1"/>
            <a:r>
              <a:rPr lang="en-US" dirty="0" smtClean="0"/>
              <a:t>Modular serialization</a:t>
            </a:r>
            <a:endParaRPr lang="en-US" baseline="30000" dirty="0" smtClean="0"/>
          </a:p>
          <a:p>
            <a:pPr lvl="1"/>
            <a:r>
              <a:rPr lang="en-US" dirty="0" smtClean="0"/>
              <a:t>Modular transport mechanism</a:t>
            </a:r>
          </a:p>
          <a:p>
            <a:pPr lvl="1"/>
            <a:r>
              <a:rPr lang="en-US" dirty="0" smtClean="0"/>
              <a:t>Wide official language support</a:t>
            </a:r>
            <a:r>
              <a:rPr lang="en-US" baseline="30000" dirty="0" smtClean="0">
                <a:hlinkClick r:id="rId3"/>
              </a:rPr>
              <a:t>[2]</a:t>
            </a:r>
            <a:endParaRPr lang="en-US" baseline="30000" dirty="0" smtClean="0"/>
          </a:p>
          <a:p>
            <a:r>
              <a:rPr lang="en-US" dirty="0" smtClean="0"/>
              <a:t>Cons</a:t>
            </a:r>
          </a:p>
          <a:p>
            <a:pPr lvl="1"/>
            <a:r>
              <a:rPr lang="en-US" dirty="0" smtClean="0"/>
              <a:t>Does not support nested </a:t>
            </a:r>
            <a:r>
              <a:rPr lang="en-US" dirty="0" err="1" smtClean="0"/>
              <a:t>Enums</a:t>
            </a:r>
            <a:r>
              <a:rPr lang="en-US" dirty="0" smtClean="0"/>
              <a:t> or </a:t>
            </a:r>
            <a:r>
              <a:rPr lang="en-US" dirty="0" err="1" smtClean="0"/>
              <a:t>Structs</a:t>
            </a:r>
            <a:r>
              <a:rPr lang="en-US" baseline="30000" dirty="0" smtClean="0">
                <a:hlinkClick r:id="rId4"/>
              </a:rPr>
              <a:t>[3]</a:t>
            </a:r>
            <a:endParaRPr lang="en-US" baseline="30000" dirty="0" smtClean="0"/>
          </a:p>
          <a:p>
            <a:pPr lvl="1"/>
            <a:r>
              <a:rPr lang="en-US" dirty="0" err="1" smtClean="0"/>
              <a:t>Structs</a:t>
            </a:r>
            <a:r>
              <a:rPr lang="en-US" dirty="0" smtClean="0"/>
              <a:t> field options of “required”, “default”, and  “optional” leads to more complex schema evolution</a:t>
            </a:r>
            <a:r>
              <a:rPr lang="en-US" baseline="30000" dirty="0" smtClean="0">
                <a:hlinkClick r:id="rId5"/>
              </a:rPr>
              <a:t>[4]</a:t>
            </a:r>
            <a:endParaRPr lang="en-US" baseline="30000" dirty="0"/>
          </a:p>
          <a:p>
            <a:pPr lvl="1"/>
            <a:r>
              <a:rPr lang="en-US" dirty="0" smtClean="0"/>
              <a:t>Sparse official documentation</a:t>
            </a:r>
            <a:r>
              <a:rPr lang="en-US" baseline="30000" dirty="0" smtClean="0">
                <a:hlinkClick r:id="rId6"/>
              </a:rPr>
              <a:t>[5]</a:t>
            </a:r>
            <a:endParaRPr lang="en-US" baseline="30000" dirty="0" smtClean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4909479"/>
      </p:ext>
    </p:extLst>
  </p:cSld>
  <p:clrMapOvr>
    <a:masterClrMapping/>
  </p:clrMapOvr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GRPC</a:t>
            </a:r>
            <a:r>
              <a:rPr lang="en-US" baseline="30000" dirty="0" smtClean="0">
                <a:hlinkClick r:id="rId2"/>
              </a:rPr>
              <a:t> [6]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Pros</a:t>
            </a:r>
          </a:p>
          <a:p>
            <a:pPr lvl="1"/>
            <a:r>
              <a:rPr lang="en-US" dirty="0" smtClean="0"/>
              <a:t>Serialization time is faster and message size smaller than Thrift</a:t>
            </a:r>
            <a:r>
              <a:rPr lang="en-US" baseline="30000" dirty="0" smtClean="0">
                <a:hlinkClick r:id="rId3"/>
              </a:rPr>
              <a:t>[7]</a:t>
            </a:r>
            <a:endParaRPr lang="en-US" baseline="30000" dirty="0" smtClean="0"/>
          </a:p>
          <a:p>
            <a:pPr lvl="1"/>
            <a:r>
              <a:rPr lang="en-US" dirty="0" smtClean="0"/>
              <a:t>Already in use (communication layer between Client Adaptors and MGCS)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roto3 allows for easy schema evolution </a:t>
            </a:r>
          </a:p>
          <a:p>
            <a:pPr lvl="1"/>
            <a:r>
              <a:rPr lang="en-US" dirty="0" smtClean="0"/>
              <a:t>Well documented</a:t>
            </a:r>
            <a:r>
              <a:rPr lang="en-US" baseline="30000" dirty="0" smtClean="0">
                <a:hlinkClick r:id="rId4"/>
              </a:rPr>
              <a:t>[8]</a:t>
            </a:r>
            <a:endParaRPr lang="en-US" baseline="30000" dirty="0" smtClean="0"/>
          </a:p>
          <a:p>
            <a:r>
              <a:rPr lang="en-US" dirty="0" smtClean="0"/>
              <a:t>Cons</a:t>
            </a:r>
          </a:p>
          <a:p>
            <a:pPr lvl="1"/>
            <a:r>
              <a:rPr lang="en-US" dirty="0" smtClean="0"/>
              <a:t>Single serialization option (binary)</a:t>
            </a:r>
          </a:p>
          <a:p>
            <a:pPr lvl="1"/>
            <a:r>
              <a:rPr lang="en-US" dirty="0" smtClean="0"/>
              <a:t>Single transport option (HTTP/2)</a:t>
            </a:r>
          </a:p>
          <a:p>
            <a:pPr lvl="1"/>
            <a:r>
              <a:rPr lang="en-US" dirty="0" smtClean="0"/>
              <a:t>Fewer languages officially supported </a:t>
            </a:r>
            <a:r>
              <a:rPr lang="en-US" smtClean="0"/>
              <a:t>than Thrift</a:t>
            </a:r>
            <a:r>
              <a:rPr lang="en-US" baseline="30000" smtClean="0">
                <a:hlinkClick r:id="rId5"/>
              </a:rPr>
              <a:t>[9]</a:t>
            </a:r>
            <a:endParaRPr lang="en-US" baseline="30000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4469248"/>
      </p:ext>
    </p:extLst>
  </p:cSld>
  <p:clrMapOvr>
    <a:masterClrMapping/>
  </p:clrMapOvr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 to Point suggestion: </a:t>
            </a:r>
            <a:r>
              <a:rPr lang="en-US" b="1" dirty="0" smtClean="0"/>
              <a:t>GRPC</a:t>
            </a:r>
          </a:p>
          <a:p>
            <a:pPr lvl="1"/>
            <a:r>
              <a:rPr lang="en-US" dirty="0" smtClean="0"/>
              <a:t>Binary serialization is all we need for internal processes</a:t>
            </a:r>
          </a:p>
          <a:p>
            <a:pPr lvl="1"/>
            <a:r>
              <a:rPr lang="en-US" dirty="0" smtClean="0"/>
              <a:t>HTTP/2 protocol allows for robust client</a:t>
            </a:r>
            <a:r>
              <a:rPr lang="en-US" dirty="0" smtClean="0">
                <a:sym typeface="Wingdings"/>
              </a:rPr>
              <a:t>/server communication options</a:t>
            </a:r>
          </a:p>
          <a:p>
            <a:pPr lvl="1"/>
            <a:r>
              <a:rPr lang="en-US" dirty="0" smtClean="0">
                <a:sym typeface="Wingdings"/>
              </a:rPr>
              <a:t>Unofficial third party libraries extend language support</a:t>
            </a:r>
          </a:p>
          <a:p>
            <a:pPr lvl="1"/>
            <a:r>
              <a:rPr lang="en-US" dirty="0" smtClean="0">
                <a:sym typeface="Wingdings"/>
              </a:rPr>
              <a:t>Most friendly for onboarding new engineers and long term development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50082124"/>
      </p:ext>
    </p:extLst>
  </p:cSld>
  <p:clrMapOvr>
    <a:masterClrMapping/>
  </p:clrMapOvr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 Based</a:t>
            </a:r>
            <a:endParaRPr lang="en-US" dirty="0" smtClean="0"/>
          </a:p>
          <a:p>
            <a:pPr lvl="1"/>
            <a:r>
              <a:rPr lang="en-US" dirty="0" smtClean="0"/>
              <a:t>Kafka</a:t>
            </a:r>
          </a:p>
          <a:p>
            <a:pPr lvl="1"/>
            <a:r>
              <a:rPr lang="en-US" dirty="0" smtClean="0"/>
              <a:t>AMQP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56108563"/>
      </p:ext>
    </p:extLst>
  </p:cSld>
  <p:clrMapOvr>
    <a:masterClrMapping/>
  </p:clrMapOvr>
</p:sld>
</file>

<file path=ppt/slides/slide10.xml><?xml version="1.0" encoding="utf-8"?>
<p:sld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 Based</a:t>
            </a:r>
            <a:endParaRPr lang="en-US" dirty="0" smtClean="0"/>
          </a:p>
          <a:p>
            <a:pPr lvl="1"/>
            <a:r>
              <a:rPr lang="en-US" dirty="0" smtClean="0"/>
              <a:t>Kafka</a:t>
            </a:r>
          </a:p>
          <a:p>
            <a:pPr lvl="2"/>
            <a:r>
              <a:rPr lang="en-US" dirty="0" smtClean="0"/>
              <a:t>Producers publish to topics and brokers store messages.</a:t>
            </a:r>
          </a:p>
          <a:p>
            <a:pPr lvl="2"/>
            <a:r>
              <a:rPr lang="en-US" dirty="0" smtClean="0"/>
              <a:t>Payloads are bytes of data</a:t>
            </a:r>
          </a:p>
          <a:p>
            <a:pPr lvl="2"/>
            <a:r>
              <a:rPr lang="en-US" dirty="0" smtClean="0"/>
              <a:t>Consumers receive payloads using the pull model</a:t>
            </a:r>
          </a:p>
          <a:p>
            <a:pPr lvl="2"/>
            <a:r>
              <a:rPr lang="en-US" dirty="0" smtClean="0"/>
              <a:t>Supports multiple subscription types</a:t>
            </a:r>
          </a:p>
          <a:p>
            <a:pPr lvl="3"/>
            <a:r>
              <a:rPr lang="en-US" dirty="0" smtClean="0"/>
              <a:t>Point to Point </a:t>
            </a:r>
            <a:r>
              <a:rPr lang="mr-IN" dirty="0" smtClean="0"/>
              <a:t>–</a:t>
            </a:r>
            <a:r>
              <a:rPr lang="en-US" dirty="0" smtClean="0"/>
              <a:t> single message read by arbitrary consumer</a:t>
            </a:r>
          </a:p>
          <a:p>
            <a:pPr lvl="3"/>
            <a:r>
              <a:rPr lang="en-US" dirty="0" smtClean="0"/>
              <a:t>Pub Sub </a:t>
            </a:r>
            <a:r>
              <a:rPr lang="mr-IN" dirty="0" smtClean="0"/>
              <a:t>–</a:t>
            </a:r>
            <a:r>
              <a:rPr lang="en-US" dirty="0" smtClean="0"/>
              <a:t> each consumer has its own copy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333" y="4364567"/>
            <a:ext cx="45212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6759"/>
      </p:ext>
    </p:extLst>
  </p:cSld>
  <p:clrMapOvr>
    <a:masterClrMapping/>
  </p:clrMapOvr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Interservice</a:t>
            </a:r>
            <a:r>
              <a:rPr lang="en-US" dirty="0" smtClean="0"/>
              <a:t> Messaging Protocol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Event Based</a:t>
            </a:r>
            <a:endParaRPr lang="en-US" dirty="0" smtClean="0"/>
          </a:p>
          <a:p>
            <a:pPr lvl="1"/>
            <a:r>
              <a:rPr lang="en-US" dirty="0" smtClean="0"/>
              <a:t>AMQP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324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30b873-7b30-4fba-a176-07ee339e2108"/>
    <ds:schemaRef ds:uri="8b1adfb4-9367-40a2-9f2d-f39317b7f0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9B4871-4362-42CF-BE0E-8F3D194160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2E7C00-A1F5-470F-829D-A0F53DF17FE2}">
  <ds:schemaRefs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8b1adfb4-9367-40a2-9f2d-f39317b7f046"/>
    <ds:schemaRef ds:uri="c430b873-7b30-4fba-a176-07ee339e2108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349</Words>
  <Application>Microsoft Macintosh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Calibri Light</vt:lpstr>
      <vt:lpstr>Mangal</vt:lpstr>
      <vt:lpstr>Wingdings</vt:lpstr>
      <vt:lpstr>Arial</vt:lpstr>
      <vt:lpstr>Office Theme</vt:lpstr>
      <vt:lpstr>Microservices Proposal v2 Considerations</vt:lpstr>
      <vt:lpstr>Interservice Messaging Protocol Options</vt:lpstr>
      <vt:lpstr>Interservice Messaging Protocol Options</vt:lpstr>
      <vt:lpstr>Interservice Messaging Protocol Options</vt:lpstr>
      <vt:lpstr>Interservice Messaging Protocol Options</vt:lpstr>
      <vt:lpstr>Thrift [1]</vt:lpstr>
      <vt:lpstr>GRPC [6]</vt:lpstr>
      <vt:lpstr>Interservice Messaging Protocol Options</vt:lpstr>
      <vt:lpstr>Interservice Messaging Protocol Options</vt:lpstr>
      <vt:lpstr>Interservice Messaging Protocol Options</vt:lpstr>
      <vt:lpstr>Interservice Messaging Protocol Options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Josh Smith</cp:lastModifiedBy>
  <cp:revision>30</cp:revision>
  <dcterms:created xsi:type="dcterms:W3CDTF">2018-02-02T15:22:30Z</dcterms:created>
  <dcterms:modified xsi:type="dcterms:W3CDTF">2018-03-06T16:36:42Z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</Properties>
</file>